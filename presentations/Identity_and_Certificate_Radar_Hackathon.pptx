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965c7eb3864f20" /><Relationship Type="http://schemas.openxmlformats.org/officeDocument/2006/relationships/extended-properties" Target="/docProps/app.xml" Id="R4eecea31b51b4fb0" /><Relationship Type="http://schemas.openxmlformats.org/officeDocument/2006/relationships/officeDocument" Target="/ppt/presentation.xml" Id="Reb1e8957be3741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d1c162967f4c0c"/>
  </p:sldMasterIdLst>
  <p:notesMasterIdLst>
    <p:notesMasterId xmlns:r="http://schemas.openxmlformats.org/officeDocument/2006/relationships" r:id="R78fa3e5f7b75485d"/>
  </p:notesMasterIdLst>
  <p:sldIdLst>
    <p:sldId xmlns:r="http://schemas.openxmlformats.org/officeDocument/2006/relationships" id="256" r:id="Ra9c8445de46e4911"/>
    <p:sldId xmlns:r="http://schemas.openxmlformats.org/officeDocument/2006/relationships" id="257" r:id="R505b72b30be94caa"/>
    <p:sldId xmlns:r="http://schemas.openxmlformats.org/officeDocument/2006/relationships" id="258" r:id="R9af817639d6e4a4b"/>
    <p:sldId xmlns:r="http://schemas.openxmlformats.org/officeDocument/2006/relationships" id="259" r:id="Rdc9b4c1659a647ef"/>
    <p:sldId xmlns:r="http://schemas.openxmlformats.org/officeDocument/2006/relationships" id="260" r:id="Rf63b3def52d54933"/>
    <p:sldId xmlns:r="http://schemas.openxmlformats.org/officeDocument/2006/relationships" id="261" r:id="R0a547451fd284fc5"/>
    <p:sldId xmlns:r="http://schemas.openxmlformats.org/officeDocument/2006/relationships" id="262" r:id="R809daae5e77e467b"/>
    <p:sldId xmlns:r="http://schemas.openxmlformats.org/officeDocument/2006/relationships" id="263" r:id="R798eed42d5b74c84"/>
    <p:sldId xmlns:r="http://schemas.openxmlformats.org/officeDocument/2006/relationships" id="264" r:id="R23b78a9373014d90"/>
    <p:sldId xmlns:r="http://schemas.openxmlformats.org/officeDocument/2006/relationships" id="265" r:id="R72394abb272e496a"/>
    <p:sldId xmlns:r="http://schemas.openxmlformats.org/officeDocument/2006/relationships" id="266" r:id="R5b3ab2926a304b62"/>
    <p:sldId xmlns:r="http://schemas.openxmlformats.org/officeDocument/2006/relationships" id="267" r:id="Rdd8a4117d5984c1b"/>
    <p:sldId xmlns:r="http://schemas.openxmlformats.org/officeDocument/2006/relationships" id="268" r:id="Rc5fb8096bd00477f"/>
    <p:sldId xmlns:r="http://schemas.openxmlformats.org/officeDocument/2006/relationships" id="269" r:id="R35cdcc087e074285"/>
    <p:sldId xmlns:r="http://schemas.openxmlformats.org/officeDocument/2006/relationships" id="270" r:id="R3570244f18024e0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4be24d59f841d8" /><Relationship Type="http://schemas.openxmlformats.org/officeDocument/2006/relationships/slideMaster" Target="/ppt/slideMasters/slideMaster1.xml" Id="Refd1c162967f4c0c" /><Relationship Type="http://schemas.openxmlformats.org/officeDocument/2006/relationships/notesMaster" Target="/ppt/notesMasters/notesMaster1.xml" Id="R78fa3e5f7b75485d" /><Relationship Type="http://schemas.openxmlformats.org/officeDocument/2006/relationships/presProps" Target="/ppt/presProps.xml" Id="R91815a663c014ba8" /><Relationship Type="http://schemas.openxmlformats.org/officeDocument/2006/relationships/tableStyles" Target="/ppt/tableStyles.xml" Id="R303e0d0e48274db6" /><Relationship Type="http://schemas.openxmlformats.org/officeDocument/2006/relationships/slide" Target="/ppt/slides/slide1.xml" Id="Ra9c8445de46e4911" /><Relationship Type="http://schemas.openxmlformats.org/officeDocument/2006/relationships/slide" Target="/ppt/slides/slide2.xml" Id="R505b72b30be94caa" /><Relationship Type="http://schemas.openxmlformats.org/officeDocument/2006/relationships/slide" Target="/ppt/slides/slide3.xml" Id="R9af817639d6e4a4b" /><Relationship Type="http://schemas.openxmlformats.org/officeDocument/2006/relationships/slide" Target="/ppt/slides/slide4.xml" Id="Rdc9b4c1659a647ef" /><Relationship Type="http://schemas.openxmlformats.org/officeDocument/2006/relationships/slide" Target="/ppt/slides/slide5.xml" Id="Rf63b3def52d54933" /><Relationship Type="http://schemas.openxmlformats.org/officeDocument/2006/relationships/slide" Target="/ppt/slides/slide6.xml" Id="R0a547451fd284fc5" /><Relationship Type="http://schemas.openxmlformats.org/officeDocument/2006/relationships/slide" Target="/ppt/slides/slide7.xml" Id="R809daae5e77e467b" /><Relationship Type="http://schemas.openxmlformats.org/officeDocument/2006/relationships/slide" Target="/ppt/slides/slide8.xml" Id="R798eed42d5b74c84" /><Relationship Type="http://schemas.openxmlformats.org/officeDocument/2006/relationships/slide" Target="/ppt/slides/slide9.xml" Id="R23b78a9373014d90" /><Relationship Type="http://schemas.openxmlformats.org/officeDocument/2006/relationships/slide" Target="/ppt/slides/slide10.xml" Id="R72394abb272e496a" /><Relationship Type="http://schemas.openxmlformats.org/officeDocument/2006/relationships/slide" Target="/ppt/slides/slide11.xml" Id="R5b3ab2926a304b62" /><Relationship Type="http://schemas.openxmlformats.org/officeDocument/2006/relationships/slide" Target="/ppt/slides/slide12.xml" Id="Rdd8a4117d5984c1b" /><Relationship Type="http://schemas.openxmlformats.org/officeDocument/2006/relationships/slide" Target="/ppt/slides/slide13.xml" Id="Rc5fb8096bd00477f" /><Relationship Type="http://schemas.openxmlformats.org/officeDocument/2006/relationships/slide" Target="/ppt/slides/slide14.xml" Id="R35cdcc087e074285" /><Relationship Type="http://schemas.openxmlformats.org/officeDocument/2006/relationships/slide" Target="/ppt/slides/slide15.xml" Id="R3570244f18024e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3490f9ae2e47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78cf8d9b8741fd" /><Relationship Type="http://schemas.openxmlformats.org/officeDocument/2006/relationships/notesMaster" Target="/ppt/notesMasters/notesMaster1.xml" Id="R8509334bebb34b0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185b3d42be4b8b" /><Relationship Type="http://schemas.openxmlformats.org/officeDocument/2006/relationships/notesMaster" Target="/ppt/notesMasters/notesMaster1.xml" Id="Rcb37e77ccd774ab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2d948be468d43e7" /><Relationship Type="http://schemas.openxmlformats.org/officeDocument/2006/relationships/notesMaster" Target="/ppt/notesMasters/notesMaster1.xml" Id="R04dc72e4495b413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6ddaadd9a047b5" /><Relationship Type="http://schemas.openxmlformats.org/officeDocument/2006/relationships/notesMaster" Target="/ppt/notesMasters/notesMaster1.xml" Id="R6e813951f93c44a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67cffb662e847a9" /><Relationship Type="http://schemas.openxmlformats.org/officeDocument/2006/relationships/notesMaster" Target="/ppt/notesMasters/notesMaster1.xml" Id="R80fbd8d2278e4c5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800b41930b4474c" /><Relationship Type="http://schemas.openxmlformats.org/officeDocument/2006/relationships/notesMaster" Target="/ppt/notesMasters/notesMaster1.xml" Id="R60db8300212843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1a9e04e91584f18" /><Relationship Type="http://schemas.openxmlformats.org/officeDocument/2006/relationships/notesMaster" Target="/ppt/notesMasters/notesMaster1.xml" Id="R2355c4ad956b4e1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c19b04a748946b0" /><Relationship Type="http://schemas.openxmlformats.org/officeDocument/2006/relationships/notesMaster" Target="/ppt/notesMasters/notesMaster1.xml" Id="R0bfae5fe9bad446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80f1566c11e4413" /><Relationship Type="http://schemas.openxmlformats.org/officeDocument/2006/relationships/notesMaster" Target="/ppt/notesMasters/notesMaster1.xml" Id="R21e092bff496480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a9cf4c35ce84d39" /><Relationship Type="http://schemas.openxmlformats.org/officeDocument/2006/relationships/notesMaster" Target="/ppt/notesMasters/notesMaster1.xml" Id="Rc70436621fc24de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fe0b06ef4b245e0" /><Relationship Type="http://schemas.openxmlformats.org/officeDocument/2006/relationships/notesMaster" Target="/ppt/notesMasters/notesMaster1.xml" Id="R33a26f0935864b3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bcd64a7d4bc4869" /><Relationship Type="http://schemas.openxmlformats.org/officeDocument/2006/relationships/notesMaster" Target="/ppt/notesMasters/notesMaster1.xml" Id="R36d9f75b5fee48c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4a9cb8f4ea447a3" /><Relationship Type="http://schemas.openxmlformats.org/officeDocument/2006/relationships/notesMaster" Target="/ppt/notesMasters/notesMaster1.xml" Id="Rfe4cc77b454f413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4236a61c30e4e65" /><Relationship Type="http://schemas.openxmlformats.org/officeDocument/2006/relationships/notesMaster" Target="/ppt/notesMasters/notesMaster1.xml" Id="Raa3c2f860fc946d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2c345bfdef24b13" /><Relationship Type="http://schemas.openxmlformats.org/officeDocument/2006/relationships/notesMaster" Target="/ppt/notesMasters/notesMaster1.xml" Id="R68ece776801646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 5–7 минут покажем, как проект превращает данные Active Directory в проверяемые пути привилегий, находки и исторические снимки. Иллюстрация сгенерирована специально для титульного слайда.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README.md и исходный код Identity Risk Analyzer в текущем репозитории.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слайде пример того, что система ищет в снимке AD: не просто флаг привилегий, а полную цепочку до целевой группы. Конкретные имена здесь иллюстративны, это не утверждение о выполненном сканировании.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README.md и исходный код Identity Risk Analyzer в текущем репозитории.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LDAP читается один раз за сканирование для каждой коллекции. Граф, анализаторы и Risk Engine используют уже полученные данные. После анализа создаётся новый исторический снимок в SQLite. Dashboard открывает снимок без нового обращения к LDAP.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README.md и исходный код Identity Risk Analyzer в текущем репозитории.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Граф строится в памяти из group.member, учитывает primaryGroupID, использует BFS и сохраняет кратчайший путь до каждой группы. В тестовом домене adlab.test этот искусственный путь присутствует; ScanRun #3 на Azure VM подтвердил соответствующую находку для lab_nested_admin. Все записи лабораторные, это не реальные пользователи.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README.md и исходный код Identity Risk Analyzer в текущем репозитории.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Анализ использует атрибуты, уже собранные LDAP collector. Constrained и Protocol Transition не дублируются; RBCD и другие независимые механизмы могут сосуществовать. RBCD требует отдельной детальной проверки ACL, которую текущий MVP не выполняет.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README.md и исходный код Identity Risk Analyzer в текущем репозитории.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проекте реализованы 18 правил. Object Risk Score — сумма баллов уникальных findings, ограниченная диапазоном 0–100. AD Security Score — 100 минус средний Object Risk Score по оценённым объектам; если объектов нет, оценка отсутствует. Числа на слайде — границы шкалы, не результат сканирования.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README.md и исходный код Identity Risk Analyzer в текущем репозитории.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Жизненный цикл: Running, затем Completed, CompletedWithErrors, Failed либо Cancelled. Итоговый снимок и сводка сохраняются в транзакции. Историческая страница использует только SQLite. Для MVP одновременно выполняется один скан на экземпляр приложения.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README.md и исходный код Identity Risk Analyzer в текущем репозитории.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Все основные компоненты существуют в одном .NET 10 приложении без отдельного frontend и без микросервисов. LDAP-клиент работает read-only. Веб-слой лишь вызывает сервисы и показывает сохранённый результат.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README.md и исходный код Identity Risk Analyzer в текущем репозитории.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текущей Azure VM успешно выполнен ScanRun #3: Completed, 18 объектов и 22 находки. Приложение действительно опросило LDAP тестового домена adlab.test; объекты и риски созданы специально для изолированной демонстрации, это не данные компании. В репозитории также есть автоматические тесты LDAP-конвертеров и paging, графа, правил, scoring, снимка, Dashboard и CSV.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README.md и исходный код Identity Risk Analyzer в текущем репозитории.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текущей VM уже есть успешно сохранённый скан. Покажите Dashboard, путь lab_nested_admin до Domain Admins, evidence находки и CSV. Это результат сканирования синтетических объектов из изолированного adlab.test.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README.md и исходный код Identity Risk Analyzer в текущем репозитории.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Второй проект — отдельное приложение для инвентаризации TLS-сервисов и контроля сертификатов. Изображение сгенерировано для раздела и не является скриншотом реального стенда.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проекте 2: README.md; radar/scanner/tls.py; radar/models.py.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Парсер нормализует цели и ограничивает число адресов из CIDR. Сканер использует ThreadPoolExecutor. Первый TLS-сеанс получает сертификат, второй проверяет цепочку доверия. При недоступности объект получает отдельный статус Unreachable.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проекте 2: radar/targets/parser.py; radar/scanner/engine.py; radar/scanner/tls.py; tests/test_e2e.py.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коде зарегистрированы семь независимых проверок: reachable, expiry, selfsigned, chain, hostname, crypto и owner. На доступных целях анализ рассчитывает Risk Score 0–100 с учётом статуса срока, находок и критичности сервиса. Не путать эту шкалу с Health Score на Dashboard.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проекте 2: radar/checks/__init__.py; radar/checks/*; radar/analysis.py; radar/risk.py.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Dashboard и API читают SQLite. Уведомления отправляются после scan; после успешной отправки повтор для того же отпечатка, порога и канала подавляется. Неуспешную отправку можно повторить. Настройки порогов запускают локальный пересчёт результата. В коде есть CSV, XLSX и HTML export. Доступность SMTP/Telegram зависит от конфигурации окружения.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проекте 2: radar/services.py; radar/notify/service.py; radar/export/*; radar/web/app.py; pyproject.toml.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сравнение двух самостоятельных проектов. У них разные источники данных и отдельные базы. В исходниках Certificate Radar описана идея зонтичной платформы, но объединённый Dashboard не реализован. Не представлять его как готовую интеграцию.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проекте 2: README.md проекта 1; hackatonProject2-main/README.md; hackatonProject2-main/PRESENTATION.md.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cafb15105f42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7a14ce0331c4da8" /><Relationship Type="http://schemas.openxmlformats.org/officeDocument/2006/relationships/slideLayout" Target="/ppt/slideLayouts/slideLayout1.xml" Id="R1ff71645b0b64e8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f71645b0b64e8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5b739a785e4c0c" /><Relationship Type="http://schemas.openxmlformats.org/officeDocument/2006/relationships/image" Target="/ppt/media/image.png" Id="R69fa16b830fb441a" /><Relationship Type="http://schemas.openxmlformats.org/officeDocument/2006/relationships/notesSlide" Target="/ppt/notesSlides/notesSlide1.xml" Id="Rc1626c2773f74e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8e8c4f385545ed" /><Relationship Type="http://schemas.openxmlformats.org/officeDocument/2006/relationships/notesSlide" Target="/ppt/notesSlides/notesSlide2.xml" Id="Rf83b665c7db241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4064809d804e29" /><Relationship Type="http://schemas.openxmlformats.org/officeDocument/2006/relationships/notesSlide" Target="/ppt/notesSlides/notesSlide3.xml" Id="R1212ca3bf6fc47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46de926b954a1c" /><Relationship Type="http://schemas.openxmlformats.org/officeDocument/2006/relationships/notesSlide" Target="/ppt/notesSlides/notesSlide4.xml" Id="R8a015151610d4b6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a782cc8be44120" /><Relationship Type="http://schemas.openxmlformats.org/officeDocument/2006/relationships/notesSlide" Target="/ppt/notesSlides/notesSlide5.xml" Id="Ra52d5a377b7c447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4593d4a9d741e6" /><Relationship Type="http://schemas.openxmlformats.org/officeDocument/2006/relationships/notesSlide" Target="/ppt/notesSlides/notesSlide6.xml" Id="R5f07206e9d46429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394cf765e84874" /><Relationship Type="http://schemas.openxmlformats.org/officeDocument/2006/relationships/notesSlide" Target="/ppt/notesSlides/notesSlide7.xml" Id="Rf5ce5a284db3427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c488d67fa549c2" /><Relationship Type="http://schemas.openxmlformats.org/officeDocument/2006/relationships/notesSlide" Target="/ppt/notesSlides/notesSlide8.xml" Id="Rbc52d890b4ca4ef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8ffabafbf642a1" /><Relationship Type="http://schemas.openxmlformats.org/officeDocument/2006/relationships/notesSlide" Target="/ppt/notesSlides/notesSlide9.xml" Id="Rb6ee6336837649c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7d1f56bd3b418b" /><Relationship Type="http://schemas.openxmlformats.org/officeDocument/2006/relationships/notesSlide" Target="/ppt/notesSlides/notesSlide10.xml" Id="R51ac2b5edac8436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df6c877948444d" /><Relationship Type="http://schemas.openxmlformats.org/officeDocument/2006/relationships/image" Target="/ppt/media/image2.png" Id="Rb357d94575c14b3f" /><Relationship Type="http://schemas.openxmlformats.org/officeDocument/2006/relationships/notesSlide" Target="/ppt/notesSlides/notesSlide11.xml" Id="R69f9ab4733a248f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2d34ed0e7644ba" /><Relationship Type="http://schemas.openxmlformats.org/officeDocument/2006/relationships/notesSlide" Target="/ppt/notesSlides/notesSlide12.xml" Id="Rfeca697f1746471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d17758daf64cf2" /><Relationship Type="http://schemas.openxmlformats.org/officeDocument/2006/relationships/notesSlide" Target="/ppt/notesSlides/notesSlide13.xml" Id="Rc890811e92e7473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670beb56614152" /><Relationship Type="http://schemas.openxmlformats.org/officeDocument/2006/relationships/notesSlide" Target="/ppt/notesSlides/notesSlide14.xml" Id="Rb8e93b6c9155475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0fe7f0bb6a4390" /><Relationship Type="http://schemas.openxmlformats.org/officeDocument/2006/relationships/notesSlide" Target="/ppt/notesSlides/notesSlide15.xml" Id="R67b39aec39a842b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B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fa16b830fb441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33C404-1FF7-4719-84F6-58F7D9C3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581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9F0F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F0F3"/>
                </a:solidFill>
                <a:latin typeface="Arial"/>
                <a:ea typeface="Arial"/>
                <a:cs typeface="Arial"/>
              </a:rPr>
              <a:t>ПРОЕКТ 1  /  ХАКАТОН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7848F4-9B34-40CB-9234-74937668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6286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Identity Risk</a:t>
            </a:r>
          </a:p>
          <a:p xmlns:a="http://schemas.openxmlformats.org/drawingml/2006/main">
            <a:pPr algn="l">
              <a:buNone/>
              <a:defRPr sz="4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Analyzer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AFA6C8-CC87-4F79-B537-CBCFF7E1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0025"/>
            <a:ext cx="5619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Кто получает права администратора — и по какому пути?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C0D0F0-0654-4D06-BAFB-1291186E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72175"/>
            <a:ext cx="542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B2CFD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2CFDA"/>
                </a:solidFill>
                <a:latin typeface="Arial"/>
                <a:ea typeface="Arial"/>
                <a:cs typeface="Arial"/>
              </a:rPr>
              <a:t>.NET 10  ·  Active Directory  ·  LDAP  ·  SQLite</a:t>
            </a:r>
          </a:p>
        </p:txBody>
      </p:sp>
    </p:spTree>
    <p:extLst>
      <p:ext uri="{BB962C8B-B14F-4D97-AF65-F5344CB8AC3E}">
        <p14:creationId xmlns:p14="http://schemas.microsoft.com/office/powerpoint/2010/main" val="1361404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07D700-0ADF-4B23-98BC-AD251D835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E9C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E9CB5"/>
                </a:solidFill>
                <a:latin typeface="Arial"/>
                <a:ea typeface="Arial"/>
                <a:cs typeface="Arial"/>
              </a:rPr>
              <a:t>IDENTITY RISK ANALYZER  / 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77680F-20A0-47E0-81A4-D80C475F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9625"/>
            <a:ext cx="10668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028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83B"/>
                </a:solidFill>
                <a:latin typeface="Arial"/>
                <a:ea typeface="Arial"/>
                <a:cs typeface="Arial"/>
              </a:rPr>
              <a:t>Проблема: права скрыты во вложенности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D719A8-ADF6-4035-BF34-5E02F2EC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70849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08490"/>
                </a:solidFill>
                <a:latin typeface="Arial"/>
                <a:ea typeface="Arial"/>
                <a:cs typeface="Arial"/>
              </a:rPr>
              <a:t>Identity Risk Analyzer  •  Hackathon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297DE8-FF13-45EB-A232-2E68E982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71675"/>
            <a:ext cx="4762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28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83B"/>
                </a:solidFill>
                <a:latin typeface="Arial"/>
                <a:ea typeface="Arial"/>
                <a:cs typeface="Arial"/>
              </a:rPr>
              <a:t>Список групп пользователя не отвечает на главный вопрос: откуда у него административный доступ?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666E64-58D7-4C0A-962B-A89EC5A4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00475"/>
            <a:ext cx="4810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4D63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D6373"/>
                </a:solidFill>
                <a:latin typeface="Arial"/>
                <a:ea typeface="Arial"/>
                <a:cs typeface="Arial"/>
              </a:rPr>
              <a:t>Одна вложенная связь может привести обычную учётную запись в критическую группу. Это трудно увидеть при ручной проверке.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7C9BC4-A430-4E93-9769-7598CA31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914525"/>
            <a:ext cx="539115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63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3C085C-DB9C-4614-B7F4-777BC0C11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9075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D9F0F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F0F3"/>
                </a:solidFill>
                <a:latin typeface="Arial"/>
                <a:ea typeface="Arial"/>
                <a:cs typeface="Arial"/>
              </a:rPr>
              <a:t>ПРИМЕР ПУТИ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531DDF-A9AC-4AEC-855C-00FAEF2E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81300"/>
            <a:ext cx="447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ivan.petrov</a:t>
            </a:r>
          </a:p>
          <a:p xmlns:a="http://schemas.openxmlformats.org/drawingml/2006/main">
            <a:pPr algn="l"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→ HelpDesk</a:t>
            </a:r>
          </a:p>
          <a:p xmlns:a="http://schemas.openxmlformats.org/drawingml/2006/main">
            <a:pPr algn="l"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→ IT Administrators</a:t>
            </a:r>
          </a:p>
          <a:p xmlns:a="http://schemas.openxmlformats.org/drawingml/2006/main">
            <a:pPr algn="l"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→ Domain Admins</a:t>
            </a:r>
          </a:p>
        </p:txBody>
      </p:sp>
    </p:spTree>
    <p:extLst>
      <p:ext uri="{BB962C8B-B14F-4D97-AF65-F5344CB8AC3E}">
        <p14:creationId xmlns:p14="http://schemas.microsoft.com/office/powerpoint/2010/main" val="12241224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975D4D-14F6-4F8D-887D-300CB7EDF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E9C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E9CB5"/>
                </a:solidFill>
                <a:latin typeface="Arial"/>
                <a:ea typeface="Arial"/>
                <a:cs typeface="Arial"/>
              </a:rPr>
              <a:t>IDENTITY RISK ANALYZER  / 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327621-4DC5-4A24-9F67-4F6946CD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9625"/>
            <a:ext cx="10668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028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83B"/>
                </a:solidFill>
                <a:latin typeface="Arial"/>
                <a:ea typeface="Arial"/>
                <a:cs typeface="Arial"/>
              </a:rPr>
              <a:t>От каталога до понятного результата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D3B983-31B5-40E4-9129-D534DDF1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70849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08490"/>
                </a:solidFill>
                <a:latin typeface="Arial"/>
                <a:ea typeface="Arial"/>
                <a:cs typeface="Arial"/>
              </a:rPr>
              <a:t>Identity Risk Analyzer  •  Hackathon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C9EEF2-4476-4E53-8EBE-0EFF1F79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33575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E9CB5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E9CB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00D94E-BD60-4C12-953C-698CFAF1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1943100"/>
            <a:ext cx="309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8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83B"/>
                </a:solidFill>
                <a:latin typeface="Arial"/>
                <a:ea typeface="Arial"/>
                <a:cs typeface="Arial"/>
              </a:rPr>
              <a:t>Сбор данных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CE2657-30AF-4996-810F-657B377A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81200"/>
            <a:ext cx="681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4D63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D6373"/>
                </a:solidFill>
                <a:latin typeface="Arial"/>
                <a:ea typeface="Arial"/>
                <a:cs typeface="Arial"/>
              </a:rPr>
              <a:t>Пользователи, группы, MSA/gMSA через read-only LDAP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59F13E-9A27-41ED-9DBF-457097A5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52725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E9CB5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E9CB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3854A3-5D98-4278-8012-B1DBB533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762250"/>
            <a:ext cx="309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8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83B"/>
                </a:solidFill>
                <a:latin typeface="Arial"/>
                <a:ea typeface="Arial"/>
                <a:cs typeface="Arial"/>
              </a:rPr>
              <a:t>Локальный граф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5DB2D6-4A35-4E6D-AC53-49BAA9B36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800350"/>
            <a:ext cx="681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4D63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D6373"/>
                </a:solidFill>
                <a:latin typeface="Arial"/>
                <a:ea typeface="Arial"/>
                <a:cs typeface="Arial"/>
              </a:rPr>
              <a:t>Прямое и вложенное членство, кратчайшие пути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F43A1F-C9B1-466A-BD71-766842A1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E9CB5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E9CB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22A98E-1251-4FDB-9842-9E31F781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581400"/>
            <a:ext cx="309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8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83B"/>
                </a:solidFill>
                <a:latin typeface="Arial"/>
                <a:ea typeface="Arial"/>
                <a:cs typeface="Arial"/>
              </a:rPr>
              <a:t>Анализ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E2C444-BFB0-4571-8B34-65083DE2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619500"/>
            <a:ext cx="681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4D63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D6373"/>
                </a:solidFill>
                <a:latin typeface="Arial"/>
                <a:ea typeface="Arial"/>
                <a:cs typeface="Arial"/>
              </a:rPr>
              <a:t>Привилегии, Kerberos delegation, сервисные записи, SPN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46325D-34D6-44F1-8BFD-2CA70D9F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91025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E9CB5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E9CB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EF4E03-0FAA-4E8E-8577-1528250B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400550"/>
            <a:ext cx="309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8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83B"/>
                </a:solidFill>
                <a:latin typeface="Arial"/>
                <a:ea typeface="Arial"/>
                <a:cs typeface="Arial"/>
              </a:rPr>
              <a:t>Правила и оценка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C594F4-A2D1-4CA2-9E72-5971C9B8E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438650"/>
            <a:ext cx="681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4D63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D6373"/>
                </a:solidFill>
                <a:latin typeface="Arial"/>
                <a:ea typeface="Arial"/>
                <a:cs typeface="Arial"/>
              </a:rPr>
              <a:t>Findings с evidence; риск объекта и оценка 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884405-58CB-4307-ADE8-F0095FC7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0175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E9CB5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E9CB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2F1AB9-1FDF-4ECE-9898-17A0414C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5219700"/>
            <a:ext cx="309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8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83B"/>
                </a:solidFill>
                <a:latin typeface="Arial"/>
                <a:ea typeface="Arial"/>
                <a:cs typeface="Arial"/>
              </a:rPr>
              <a:t>Снимок в SQLite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E8EBFA-236C-4240-937F-0BFEE79A8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257800"/>
            <a:ext cx="681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4D63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D6373"/>
                </a:solidFill>
                <a:latin typeface="Arial"/>
                <a:ea typeface="Arial"/>
                <a:cs typeface="Arial"/>
              </a:rPr>
              <a:t>История ScanRun, Dashboard, детали и CSV</a:t>
            </a:r>
          </a:p>
        </p:txBody>
      </p:sp>
    </p:spTree>
    <p:extLst>
      <p:ext uri="{BB962C8B-B14F-4D97-AF65-F5344CB8AC3E}">
        <p14:creationId xmlns:p14="http://schemas.microsoft.com/office/powerpoint/2010/main" val="19760577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B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6E1983-B8AC-4C03-8965-FEF08A97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9F0F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9F0F3"/>
                </a:solidFill>
                <a:latin typeface="Arial"/>
                <a:ea typeface="Arial"/>
                <a:cs typeface="Arial"/>
              </a:rPr>
              <a:t>IDENTITY RISK ANALYZER  / 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2B89A7-3A60-4E9C-80E0-66F1F63A0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9625"/>
            <a:ext cx="10668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Главная функция: объяснимый privilege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C9ABBD-4697-4F45-A703-2BF0DB476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CB5C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CB5C5"/>
                </a:solidFill>
                <a:latin typeface="Arial"/>
                <a:ea typeface="Arial"/>
                <a:cs typeface="Arial"/>
              </a:rPr>
              <a:t>Identity Risk Analyzer  •  Hackathon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588936-5774-41F9-A7FE-DD8964F9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5191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D9F0F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9F0F3"/>
                </a:solidFill>
                <a:latin typeface="Arial"/>
                <a:ea typeface="Arial"/>
                <a:cs typeface="Arial"/>
              </a:rPr>
              <a:t>Кратчайшая цепочка членства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5BD7F7-46A5-45E5-B876-80F8868A8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638425"/>
            <a:ext cx="55245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lab_nested_admin</a:t>
            </a:r>
          </a:p>
          <a:p xmlns:a="http://schemas.openxmlformats.org/drawingml/2006/main">
            <a:pPr algn="l">
              <a:buNone/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→ DemoHelpDesk</a:t>
            </a:r>
          </a:p>
          <a:p xmlns:a="http://schemas.openxmlformats.org/drawingml/2006/main">
            <a:pPr algn="l">
              <a:buNone/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→ DemoITAdmins</a:t>
            </a:r>
          </a:p>
          <a:p xmlns:a="http://schemas.openxmlformats.org/drawingml/2006/main">
            <a:pPr algn="l">
              <a:buNone/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→ Domain Admins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D1D83A-C97C-4C38-BF37-07884E58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05740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D9F0F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F0F3"/>
                </a:solidFill>
                <a:latin typeface="Arial"/>
                <a:ea typeface="Arial"/>
                <a:cs typeface="Arial"/>
              </a:rPr>
              <a:t>Что видно специалисту ИБ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88694C-6798-4239-B5EE-EE6446F0D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714625"/>
            <a:ext cx="433387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Целевая группа: Domain Admins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Тип: вложенное членство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Глубина: 3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Путь: полный, от пользователя до группы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FE653C-B822-456B-A5AA-766B25AA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9CB5C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CB5C5"/>
                </a:solidFill>
                <a:latin typeface="Arial"/>
                <a:ea typeface="Arial"/>
                <a:cs typeface="Arial"/>
              </a:rPr>
              <a:t>BFS • защита от циклов • primaryGroupID • сравнение DN без учёта регистра</a:t>
            </a:r>
          </a:p>
        </p:txBody>
      </p:sp>
    </p:spTree>
    <p:extLst>
      <p:ext uri="{BB962C8B-B14F-4D97-AF65-F5344CB8AC3E}">
        <p14:creationId xmlns:p14="http://schemas.microsoft.com/office/powerpoint/2010/main" val="15370270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BFB67A-769D-436C-9F21-825BC212C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E9C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E9CB5"/>
                </a:solidFill>
                <a:latin typeface="Arial"/>
                <a:ea typeface="Arial"/>
                <a:cs typeface="Arial"/>
              </a:rPr>
              <a:t>IDENTITY RISK ANALYZER  / 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3E19B7-E466-4A83-9777-2BADB161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9625"/>
            <a:ext cx="10668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028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83B"/>
                </a:solidFill>
                <a:latin typeface="Arial"/>
                <a:ea typeface="Arial"/>
                <a:cs typeface="Arial"/>
              </a:rPr>
              <a:t>Kerberos delegation: четыре механизма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8B1045-2F8C-4464-95F2-E3668565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70849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08490"/>
                </a:solidFill>
                <a:latin typeface="Arial"/>
                <a:ea typeface="Arial"/>
                <a:cs typeface="Arial"/>
              </a:rPr>
              <a:t>Identity Risk Analyzer  •  Hackathon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2D1465-6D5B-4449-9F8F-248A0817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4D63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D6373"/>
                </a:solidFill>
                <a:latin typeface="Arial"/>
                <a:ea typeface="Arial"/>
                <a:cs typeface="Arial"/>
              </a:rPr>
              <a:t>Проверяем фактические LDAP-признаки, сохраняем targets и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0007FD-387B-49E2-8AFB-17229FD5D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8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83B"/>
                </a:solidFill>
                <a:latin typeface="Arial"/>
                <a:ea typeface="Arial"/>
                <a:cs typeface="Arial"/>
              </a:rPr>
              <a:t>Unconstrained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72811C-03D6-4191-A806-ED63A95DC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14600"/>
            <a:ext cx="695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4D63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D6373"/>
                </a:solidFill>
                <a:latin typeface="Arial"/>
                <a:ea typeface="Arial"/>
                <a:cs typeface="Arial"/>
              </a:rPr>
              <a:t>TRUSTED_FOR_DELEGATION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9B5607-78E0-4CE8-BCEE-E8378522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8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83B"/>
                </a:solidFill>
                <a:latin typeface="Arial"/>
                <a:ea typeface="Arial"/>
                <a:cs typeface="Arial"/>
              </a:rPr>
              <a:t>Constrained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064309-1999-455E-8703-C44494A3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48025"/>
            <a:ext cx="695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4D63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D6373"/>
                </a:solidFill>
                <a:latin typeface="Arial"/>
                <a:ea typeface="Arial"/>
                <a:cs typeface="Arial"/>
              </a:rPr>
              <a:t>msDS-AllowedToDelegateTo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07E95D-647A-424C-AC46-FF28D4E79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52875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8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83B"/>
                </a:solidFill>
                <a:latin typeface="Arial"/>
                <a:ea typeface="Arial"/>
                <a:cs typeface="Arial"/>
              </a:rPr>
              <a:t>Protocol Transition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D5D2CE-5764-4D64-9E02-81F599E5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981450"/>
            <a:ext cx="695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4D63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D6373"/>
                </a:solidFill>
                <a:latin typeface="Arial"/>
                <a:ea typeface="Arial"/>
                <a:cs typeface="Arial"/>
              </a:rPr>
              <a:t>Флаг TRUSTED_TO_AUTH_FOR_DELEGATION + targets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2B1495-868A-4165-9C08-F207D8BD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86300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8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83B"/>
                </a:solidFill>
                <a:latin typeface="Arial"/>
                <a:ea typeface="Arial"/>
                <a:cs typeface="Arial"/>
              </a:rPr>
              <a:t>RBCD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DA62DB-0B75-4AD8-A14A-7899829E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714875"/>
            <a:ext cx="695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4D63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D6373"/>
                </a:solidFill>
                <a:latin typeface="Arial"/>
                <a:ea typeface="Arial"/>
                <a:cs typeface="Arial"/>
              </a:rPr>
              <a:t>Наличие msDS-AllowedToActOnBehalfOfOtherIdentity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80E8F4-3970-4899-BB30-89B90DB7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00725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B3554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35547"/>
                </a:solidFill>
                <a:latin typeface="Arial"/>
                <a:ea typeface="Arial"/>
                <a:cs typeface="Arial"/>
              </a:rPr>
              <a:t>RBCD: наличие настройки определяется; содержимое ACL пока не разбирается.</a:t>
            </a:r>
          </a:p>
        </p:txBody>
      </p:sp>
    </p:spTree>
    <p:extLst>
      <p:ext uri="{BB962C8B-B14F-4D97-AF65-F5344CB8AC3E}">
        <p14:creationId xmlns:p14="http://schemas.microsoft.com/office/powerpoint/2010/main" val="17774109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95F21F-9AF0-49F0-8E35-C2697429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E9C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E9CB5"/>
                </a:solidFill>
                <a:latin typeface="Arial"/>
                <a:ea typeface="Arial"/>
                <a:cs typeface="Arial"/>
              </a:rPr>
              <a:t>IDENTITY RISK ANALYZER  / 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2FCB68-CE51-45FB-AD5C-A07F28F6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9625"/>
            <a:ext cx="10668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028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83B"/>
                </a:solidFill>
                <a:latin typeface="Arial"/>
                <a:ea typeface="Arial"/>
                <a:cs typeface="Arial"/>
              </a:rPr>
              <a:t>Каждый риск объясняется и оценивается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F90E76-E8CC-4E3B-BF5E-653C3660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70849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08490"/>
                </a:solidFill>
                <a:latin typeface="Arial"/>
                <a:ea typeface="Arial"/>
                <a:cs typeface="Arial"/>
              </a:rPr>
              <a:t>Identity Risk Analyzer  •  Hackathon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4819C6-1732-4AF4-B789-22A5A86A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0" b="1">
                <a:solidFill>
                  <a:srgbClr val="1E9CB5"/>
                </a:solidFill>
                <a:latin typeface="Arial"/>
                <a:ea typeface="Arial"/>
                <a:cs typeface="Arial"/>
              </a:defRPr>
            </a:pPr>
            <a:r>
              <a:rPr sz="8250" b="1">
                <a:solidFill>
                  <a:srgbClr val="1E9CB5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FA52A4-7AA2-4641-BD4C-1320400E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323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283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283B"/>
                </a:solidFill>
                <a:latin typeface="Arial"/>
                <a:ea typeface="Arial"/>
                <a:cs typeface="Arial"/>
              </a:rPr>
              <a:t>правил риска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99107D-7525-4366-B41C-7A963F0E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09775"/>
            <a:ext cx="709612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4D63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D6373"/>
                </a:solidFill>
                <a:latin typeface="Arial"/>
                <a:ea typeface="Arial"/>
                <a:cs typeface="Arial"/>
              </a:rPr>
              <a:t>У каждой находки есть RuleId, уровень, evidence, рекомендация и баллы риска. Сохранённые findings — те же, что использованы для расчёта score.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4B7B5A-86CA-49AA-9D21-E7A3C2AB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107632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63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008C4A-0AA9-455A-AD39-DC1285A6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6247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D9F0F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9F0F3"/>
                </a:solidFill>
                <a:latin typeface="Arial"/>
                <a:ea typeface="Arial"/>
                <a:cs typeface="Arial"/>
              </a:rPr>
              <a:t>Object Risk Score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642CC4-3ECE-4690-BDFC-D2E269A53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57775"/>
            <a:ext cx="4953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 → 100  ·  выше = хуже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34BD15-38F4-496B-A793-1BD2470C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56247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D9F0F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9F0F3"/>
                </a:solidFill>
                <a:latin typeface="Arial"/>
                <a:ea typeface="Arial"/>
                <a:cs typeface="Arial"/>
              </a:rPr>
              <a:t>AD Security Score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0C4F60-D82A-4AF9-AC59-1A2573432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5057775"/>
            <a:ext cx="4953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100 − средний риск  ·  выше = лучше</a:t>
            </a:r>
          </a:p>
        </p:txBody>
      </p:sp>
    </p:spTree>
    <p:extLst>
      <p:ext uri="{BB962C8B-B14F-4D97-AF65-F5344CB8AC3E}">
        <p14:creationId xmlns:p14="http://schemas.microsoft.com/office/powerpoint/2010/main" val="13613559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C3E7DA-8F2D-449E-AA21-F63B01677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E9C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E9CB5"/>
                </a:solidFill>
                <a:latin typeface="Arial"/>
                <a:ea typeface="Arial"/>
                <a:cs typeface="Arial"/>
              </a:rPr>
              <a:t>IDENTITY RISK ANALYZER  / 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699269-A63B-4AE1-887A-B6A20183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9625"/>
            <a:ext cx="10668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028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83B"/>
                </a:solidFill>
                <a:latin typeface="Arial"/>
                <a:ea typeface="Arial"/>
                <a:cs typeface="Arial"/>
              </a:rPr>
              <a:t>Один ScanRun — один проверяемый снимок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26C0A7-30CB-4D83-ABB0-5A7255302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70849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08490"/>
                </a:solidFill>
                <a:latin typeface="Arial"/>
                <a:ea typeface="Arial"/>
                <a:cs typeface="Arial"/>
              </a:rPr>
              <a:t>Identity Risk Analyzer  •  Hackathon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C08CE5-79A7-432F-B875-1121BB9B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333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E9CB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E9CB5"/>
                </a:solidFill>
                <a:latin typeface="Arial"/>
                <a:ea typeface="Arial"/>
                <a:cs typeface="Arial"/>
              </a:rPr>
              <a:t>START SCAN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F0CF2D-F94D-4451-92E9-F70AA2DCC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19350"/>
            <a:ext cx="27432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283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83B"/>
                </a:solidFill>
                <a:latin typeface="Arial"/>
                <a:ea typeface="Arial"/>
                <a:cs typeface="Arial"/>
              </a:rPr>
              <a:t>Запуск из веб-интерфейса; статус Running сохраняется до LDAP-запросов.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5CC0C3-AC78-4A42-A456-80992EC5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52625"/>
            <a:ext cx="2333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E9CB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E9CB5"/>
                </a:solidFill>
                <a:latin typeface="Arial"/>
                <a:ea typeface="Arial"/>
                <a:cs typeface="Arial"/>
              </a:rPr>
              <a:t>SQLITE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5B1EA4-CC03-4208-A358-6376109E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19350"/>
            <a:ext cx="31051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283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83B"/>
                </a:solidFill>
                <a:latin typeface="Arial"/>
                <a:ea typeface="Arial"/>
                <a:cs typeface="Arial"/>
              </a:rPr>
              <a:t>Объекты, цепочки групп, delegation и findings сохраняются атомарно.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C6E58C-BD13-448D-A1E2-8ACBE5E4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1952625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E9CB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E9CB5"/>
                </a:solidFill>
                <a:latin typeface="Arial"/>
                <a:ea typeface="Arial"/>
                <a:cs typeface="Arial"/>
              </a:rPr>
              <a:t>ЧТЕНИЕ ИСТОРИИ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A32673-7943-44DA-96C0-C1A46CEE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419350"/>
            <a:ext cx="32194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283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83B"/>
                </a:solidFill>
                <a:latin typeface="Arial"/>
                <a:ea typeface="Arial"/>
                <a:cs typeface="Arial"/>
              </a:rPr>
              <a:t>Dashboard, детали и CSV читают SQLite; AD повторно не опрашивается.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73F264-EEA2-4EBA-A808-B7A7A1CA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10763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0F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BD81B0-AB92-4409-BBFB-7246B355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910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8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83B"/>
                </a:solidFill>
                <a:latin typeface="Arial"/>
                <a:ea typeface="Arial"/>
                <a:cs typeface="Arial"/>
              </a:rPr>
              <a:t>Предыдущие сканы не перезаписываются. Failed scan не подменяет последний успешный на Dashboard.</a:t>
            </a:r>
          </a:p>
        </p:txBody>
      </p:sp>
    </p:spTree>
    <p:extLst>
      <p:ext uri="{BB962C8B-B14F-4D97-AF65-F5344CB8AC3E}">
        <p14:creationId xmlns:p14="http://schemas.microsoft.com/office/powerpoint/2010/main" val="15227350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675078-B17D-4B06-82F8-CB6B92B3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E9C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E9CB5"/>
                </a:solidFill>
                <a:latin typeface="Arial"/>
                <a:ea typeface="Arial"/>
                <a:cs typeface="Arial"/>
              </a:rPr>
              <a:t>IDENTITY RISK ANALYZER  / 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06DE86-54F4-4F0C-A2FF-272D7F20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9625"/>
            <a:ext cx="10668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028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83B"/>
                </a:solidFill>
                <a:latin typeface="Arial"/>
                <a:ea typeface="Arial"/>
                <a:cs typeface="Arial"/>
              </a:rPr>
              <a:t>Простой стек с чёткими границами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311EB7-843E-48A5-A1F2-58C6F765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70849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08490"/>
                </a:solidFill>
                <a:latin typeface="Arial"/>
                <a:ea typeface="Arial"/>
                <a:cs typeface="Arial"/>
              </a:rPr>
              <a:t>Identity Risk Analyzer  •  Hackathon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CF27C5-F94F-4518-A258-ED464BEF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28825"/>
            <a:ext cx="2428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E9CB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E9CB5"/>
                </a:solidFill>
                <a:latin typeface="Arial"/>
                <a:ea typeface="Arial"/>
                <a:cs typeface="Arial"/>
              </a:rPr>
              <a:t>WEB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69B2CA-B9C9-4C4B-90A2-262976AB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2476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283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83B"/>
                </a:solidFill>
                <a:latin typeface="Arial"/>
                <a:ea typeface="Arial"/>
                <a:cs typeface="Arial"/>
              </a:rPr>
              <a:t>ASP.NET Core MVC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0283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83B"/>
                </a:solidFill>
                <a:latin typeface="Arial"/>
                <a:ea typeface="Arial"/>
                <a:cs typeface="Arial"/>
              </a:rPr>
              <a:t>Razor Views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0283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83B"/>
                </a:solidFill>
                <a:latin typeface="Arial"/>
                <a:ea typeface="Arial"/>
                <a:cs typeface="Arial"/>
              </a:rPr>
              <a:t>Bootstrap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F33DB6-6B8D-40D1-A29A-F9D4617C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28825"/>
            <a:ext cx="2428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E9CB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E9CB5"/>
                </a:solidFill>
                <a:latin typeface="Arial"/>
                <a:ea typeface="Arial"/>
                <a:cs typeface="Arial"/>
              </a:rPr>
              <a:t>ДАННЫЕ 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60BC2E-679D-4606-8455-7A5178A2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67000"/>
            <a:ext cx="2476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283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83B"/>
                </a:solidFill>
                <a:latin typeface="Arial"/>
                <a:ea typeface="Arial"/>
                <a:cs typeface="Arial"/>
              </a:rPr>
              <a:t>LDAP-клиент .NET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0283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83B"/>
                </a:solidFill>
                <a:latin typeface="Arial"/>
                <a:ea typeface="Arial"/>
                <a:cs typeface="Arial"/>
              </a:rPr>
              <a:t>LDAP paging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0283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83B"/>
                </a:solidFill>
                <a:latin typeface="Arial"/>
                <a:ea typeface="Arial"/>
                <a:cs typeface="Arial"/>
              </a:rPr>
              <a:t>Ranged retrieval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47F48D-4FE0-4879-BE0E-EE2BF58E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28825"/>
            <a:ext cx="2428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E9CB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E9CB5"/>
                </a:solidFill>
                <a:latin typeface="Arial"/>
                <a:ea typeface="Arial"/>
                <a:cs typeface="Arial"/>
              </a:rPr>
              <a:t>АНАЛИЗ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1C3483-6744-418D-8F32-C57C7644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67000"/>
            <a:ext cx="2476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283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83B"/>
                </a:solidFill>
                <a:latin typeface="Arial"/>
                <a:ea typeface="Arial"/>
                <a:cs typeface="Arial"/>
              </a:rPr>
              <a:t>Group Graph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0283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83B"/>
                </a:solidFill>
                <a:latin typeface="Arial"/>
                <a:ea typeface="Arial"/>
                <a:cs typeface="Arial"/>
              </a:rPr>
              <a:t>Privilege / Delegation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0283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83B"/>
                </a:solidFill>
                <a:latin typeface="Arial"/>
                <a:ea typeface="Arial"/>
                <a:cs typeface="Arial"/>
              </a:rPr>
              <a:t>Risk Rules / Scoring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9FC8B8-31BD-4BE4-A5D9-9F84B1D7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28825"/>
            <a:ext cx="2428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E9CB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E9CB5"/>
                </a:solidFill>
                <a:latin typeface="Arial"/>
                <a:ea typeface="Arial"/>
                <a:cs typeface="Arial"/>
              </a:rPr>
              <a:t>ХРАНЕНИЕ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BBE64D-08EF-4A98-8F1C-B5AEBC54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67000"/>
            <a:ext cx="2476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283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83B"/>
                </a:solidFill>
                <a:latin typeface="Arial"/>
                <a:ea typeface="Arial"/>
                <a:cs typeface="Arial"/>
              </a:rPr>
              <a:t>EF Core + SQLite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0283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83B"/>
                </a:solidFill>
                <a:latin typeface="Arial"/>
                <a:ea typeface="Arial"/>
                <a:cs typeface="Arial"/>
              </a:rPr>
              <a:t>ScanRun snapshots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0283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83B"/>
                </a:solidFill>
                <a:latin typeface="Arial"/>
                <a:ea typeface="Arial"/>
                <a:cs typeface="Arial"/>
              </a:rPr>
              <a:t>История и CSV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A483B6-4BC7-4795-9BB0-8AA887B0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1071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4D63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D6373"/>
                </a:solidFill>
                <a:latin typeface="Arial"/>
                <a:ea typeface="Arial"/>
                <a:cs typeface="Arial"/>
              </a:rPr>
              <a:t>Контроллеры тонкие; LDAP, граф, правила и оценка риска живут в отдельных сервисах.</a:t>
            </a:r>
          </a:p>
        </p:txBody>
      </p:sp>
    </p:spTree>
    <p:extLst>
      <p:ext uri="{BB962C8B-B14F-4D97-AF65-F5344CB8AC3E}">
        <p14:creationId xmlns:p14="http://schemas.microsoft.com/office/powerpoint/2010/main" val="14005751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BF8BD1-7F78-42B0-BF56-3034A91C7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E9C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E9CB5"/>
                </a:solidFill>
                <a:latin typeface="Arial"/>
                <a:ea typeface="Arial"/>
                <a:cs typeface="Arial"/>
              </a:rPr>
              <a:t>IDENTITY RISK ANALYZER  /  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91DEDC-9A7B-47FF-813F-0A46FECC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9625"/>
            <a:ext cx="10668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028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83B"/>
                </a:solidFill>
                <a:latin typeface="Arial"/>
                <a:ea typeface="Arial"/>
                <a:cs typeface="Arial"/>
              </a:rPr>
              <a:t>Проверка: автоматические тесты и AD-лаборатория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573766-0FAE-403A-B061-244491C8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70849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08490"/>
                </a:solidFill>
                <a:latin typeface="Arial"/>
                <a:ea typeface="Arial"/>
                <a:cs typeface="Arial"/>
              </a:rPr>
              <a:t>Identity Risk Analyzer  •  Hackathon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51D60B-52CB-4B09-9E12-E9984F5F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9775"/>
            <a:ext cx="4905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28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83B"/>
                </a:solidFill>
                <a:latin typeface="Arial"/>
                <a:ea typeface="Arial"/>
                <a:cs typeface="Arial"/>
              </a:rPr>
              <a:t>Автоматические тесты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CA41FC-CE5E-40C1-B592-FD5F5B79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4953000" cy="1933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4D63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D6373"/>
                </a:solidFill>
                <a:latin typeface="Arial"/>
                <a:ea typeface="Arial"/>
                <a:cs typeface="Arial"/>
              </a:rPr>
              <a:t>LDAP-конвертеры и paging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4D63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D6373"/>
                </a:solidFill>
                <a:latin typeface="Arial"/>
                <a:ea typeface="Arial"/>
                <a:cs typeface="Arial"/>
              </a:rPr>
              <a:t>Граф, циклы и кратчайшие пути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4D63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D6373"/>
                </a:solidFill>
                <a:latin typeface="Arial"/>
                <a:ea typeface="Arial"/>
                <a:cs typeface="Arial"/>
              </a:rPr>
              <a:t>Delegation, правила и scoring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4D63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D6373"/>
                </a:solidFill>
                <a:latin typeface="Arial"/>
                <a:ea typeface="Arial"/>
                <a:cs typeface="Arial"/>
              </a:rPr>
              <a:t>ScanRun, Dashboard и CSV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EEA9C7-607F-492A-9715-F6D214FD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09775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28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83B"/>
                </a:solidFill>
                <a:latin typeface="Arial"/>
                <a:ea typeface="Arial"/>
                <a:cs typeface="Arial"/>
              </a:rPr>
              <a:t>Изолированный стенд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B74513-842B-4B28-A031-5BFDD3704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14625"/>
            <a:ext cx="4972050" cy="1933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4D63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D6373"/>
                </a:solidFill>
                <a:latin typeface="Arial"/>
                <a:ea typeface="Arial"/>
                <a:cs typeface="Arial"/>
              </a:rPr>
              <a:t>Windows Server / adlab.test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4D63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D6373"/>
                </a:solidFill>
                <a:latin typeface="Arial"/>
                <a:ea typeface="Arial"/>
                <a:cs typeface="Arial"/>
              </a:rPr>
              <a:t>Скрипты создания тестовых сценариев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4D63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D6373"/>
                </a:solidFill>
                <a:latin typeface="Arial"/>
                <a:ea typeface="Arial"/>
                <a:cs typeface="Arial"/>
              </a:rPr>
              <a:t>Проверка вложенных прав и delegation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4D63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D6373"/>
                </a:solidFill>
                <a:latin typeface="Arial"/>
                <a:ea typeface="Arial"/>
                <a:cs typeface="Arial"/>
              </a:rPr>
              <a:t>Сверка ожидаемых RuleId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539AA9-807C-4894-B3F0-6EB0E0542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33975"/>
            <a:ext cx="10763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0F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FFC677-B9EF-4524-9BCE-93A792E6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24475"/>
            <a:ext cx="10315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8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B"/>
                </a:solidFill>
                <a:latin typeface="Arial"/>
                <a:ea typeface="Arial"/>
                <a:cs typeface="Arial"/>
              </a:rPr>
              <a:t>ScanRun #3 на Azure VM: Completed · 18 объектов · 22 находки.</a:t>
            </a:r>
          </a:p>
        </p:txBody>
      </p:sp>
    </p:spTree>
    <p:extLst>
      <p:ext uri="{BB962C8B-B14F-4D97-AF65-F5344CB8AC3E}">
        <p14:creationId xmlns:p14="http://schemas.microsoft.com/office/powerpoint/2010/main" val="200755737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B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E88F6D-92A6-4FDD-8B5C-71F1BC45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9F0F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9F0F3"/>
                </a:solidFill>
                <a:latin typeface="Arial"/>
                <a:ea typeface="Arial"/>
                <a:cs typeface="Arial"/>
              </a:rPr>
              <a:t>IDENTITY RISK ANALYZER  / 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9C3D1D-214D-481E-9EAC-09714669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9625"/>
            <a:ext cx="10668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Видно не только кто администратор, но и почему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988395-3416-470E-BC7B-AC99FFF5F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CB5C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CB5C5"/>
                </a:solidFill>
                <a:latin typeface="Arial"/>
                <a:ea typeface="Arial"/>
                <a:cs typeface="Arial"/>
              </a:rPr>
              <a:t>Identity Risk Analyzer  •  Hackathon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03121C-B77F-42BF-9690-D92E81DC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076450"/>
            <a:ext cx="100012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Путь → свидетельство → решение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E52EE7-C148-43BB-BE6A-99E9F703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14775"/>
            <a:ext cx="8572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D9F0F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9F0F3"/>
                </a:solidFill>
                <a:latin typeface="Arial"/>
                <a:ea typeface="Arial"/>
                <a:cs typeface="Arial"/>
              </a:rPr>
              <a:t>1. Открыть сохранённый Dashboard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D9F0F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9F0F3"/>
                </a:solidFill>
                <a:latin typeface="Arial"/>
                <a:ea typeface="Arial"/>
                <a:cs typeface="Arial"/>
              </a:rPr>
              <a:t>2. Показать путь до Domain Admins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D9F0F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9F0F3"/>
                </a:solidFill>
                <a:latin typeface="Arial"/>
                <a:ea typeface="Arial"/>
                <a:cs typeface="Arial"/>
              </a:rPr>
              <a:t>3. Проверить finding и экспортировать CSV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A9D8E1-DB05-43E5-AA26-6A8FFA2D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7340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CB5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CB5C5"/>
                </a:solidFill>
                <a:latin typeface="Arial"/>
                <a:ea typeface="Arial"/>
                <a:cs typeface="Arial"/>
              </a:rPr>
              <a:t>Read-only анализ Active Directory. История каждого ScanRun остаётся доступной.</a:t>
            </a:r>
          </a:p>
        </p:txBody>
      </p:sp>
    </p:spTree>
    <p:extLst>
      <p:ext uri="{BB962C8B-B14F-4D97-AF65-F5344CB8AC3E}">
        <p14:creationId xmlns:p14="http://schemas.microsoft.com/office/powerpoint/2010/main" val="15503078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B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57d94575c14b3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ABD2E3-9834-42E4-9FA2-74D7180C2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581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9F0F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F0F3"/>
                </a:solidFill>
                <a:latin typeface="Arial"/>
                <a:ea typeface="Arial"/>
                <a:cs typeface="Arial"/>
              </a:rPr>
              <a:t>ПРОЕКТ 2  /  ХАКАТОН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DEA32D-EF53-4B12-805C-153F2935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6477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Certificate</a:t>
            </a:r>
          </a:p>
          <a:p xmlns:a="http://schemas.openxmlformats.org/drawingml/2006/main">
            <a:pPr algn="l">
              <a:buNone/>
              <a:defRPr sz="4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Radar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DA0942-A92A-474C-83B1-0BEAD9732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0025"/>
            <a:ext cx="571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Выявляет проблемы TLS-сертификатов до отказа сервиса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0F7555-6786-4ABD-A516-F07678B76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72175"/>
            <a:ext cx="561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B2CFD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2CFDA"/>
                </a:solidFill>
                <a:latin typeface="Arial"/>
                <a:ea typeface="Arial"/>
                <a:cs typeface="Arial"/>
              </a:rPr>
              <a:t>DNS  ·  TLS  ·  сертификаты  ·  история</a:t>
            </a:r>
          </a:p>
        </p:txBody>
      </p:sp>
    </p:spTree>
    <p:extLst>
      <p:ext uri="{BB962C8B-B14F-4D97-AF65-F5344CB8AC3E}">
        <p14:creationId xmlns:p14="http://schemas.microsoft.com/office/powerpoint/2010/main" val="94165816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35BA29-23E4-43F8-8A00-D6AECDDD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E9C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E9CB5"/>
                </a:solidFill>
                <a:latin typeface="Arial"/>
                <a:ea typeface="Arial"/>
                <a:cs typeface="Arial"/>
              </a:rPr>
              <a:t>CERTIFICATE RADAR  / 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AE5697-9BFF-4EE2-AAB7-1EDF6787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9625"/>
            <a:ext cx="10668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028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83B"/>
                </a:solidFill>
                <a:latin typeface="Arial"/>
                <a:ea typeface="Arial"/>
                <a:cs typeface="Arial"/>
              </a:rPr>
              <a:t>От адреса сервиса до результата TLS-проверки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CB3EBF-69BE-48D5-B9EE-C97F1A6FB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70849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08490"/>
                </a:solidFill>
                <a:latin typeface="Arial"/>
                <a:ea typeface="Arial"/>
                <a:cs typeface="Arial"/>
              </a:rPr>
              <a:t>Infrastructure Risk Radar  •  Hackathon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D7E830-B7B9-4B9F-AAC9-FD9A14BA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714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E9CB5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E9CB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83ECEE-030C-46CC-B38E-E1FFC8B9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71675"/>
            <a:ext cx="347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8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83B"/>
                </a:solidFill>
                <a:latin typeface="Arial"/>
                <a:ea typeface="Arial"/>
                <a:cs typeface="Arial"/>
              </a:rPr>
              <a:t>Импорт целей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002310-2986-4EC8-8252-489C62FD7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2009775"/>
            <a:ext cx="638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4D63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D6373"/>
                </a:solidFill>
                <a:latin typeface="Arial"/>
                <a:ea typeface="Arial"/>
                <a:cs typeface="Arial"/>
              </a:rPr>
              <a:t>DNS, IP, HTTPS URL, host:port или ограниченный CIDR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9593E2-C4A5-4D5A-AE22-3257B872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38450"/>
            <a:ext cx="714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E9CB5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E9CB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D8CF02-FD6D-4E65-A1DB-814CD981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57500"/>
            <a:ext cx="347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8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83B"/>
                </a:solidFill>
                <a:latin typeface="Arial"/>
                <a:ea typeface="Arial"/>
                <a:cs typeface="Arial"/>
              </a:rPr>
              <a:t>Параллельный скан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1AF9DA-A00F-487A-A6EA-EB5590D0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2895600"/>
            <a:ext cx="638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4D63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D6373"/>
                </a:solidFill>
                <a:latin typeface="Arial"/>
                <a:ea typeface="Arial"/>
                <a:cs typeface="Arial"/>
              </a:rPr>
              <a:t>DNS-разрешение и TLS-рукопожатие с таймаутом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D3F7F2-050C-44CD-9BC0-26CD642B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24275"/>
            <a:ext cx="714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E9CB5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E9CB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C29548-7C8F-4C01-953D-4A0B9BC2A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43325"/>
            <a:ext cx="347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8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83B"/>
                </a:solidFill>
                <a:latin typeface="Arial"/>
                <a:ea typeface="Arial"/>
                <a:cs typeface="Arial"/>
              </a:rPr>
              <a:t>Данные сертификата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87F222-4D56-4795-976F-BB1DA705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781425"/>
            <a:ext cx="638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4D63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D6373"/>
                </a:solidFill>
                <a:latin typeface="Arial"/>
                <a:ea typeface="Arial"/>
                <a:cs typeface="Arial"/>
              </a:rPr>
              <a:t>CN, SAN, issuer, срок действия, ключ и версия TLS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594882-92AF-44FD-97CD-08CE575F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714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E9CB5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E9CB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BEFB6A-F760-43B8-8788-A1B43875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29150"/>
            <a:ext cx="347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8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83B"/>
                </a:solidFill>
                <a:latin typeface="Arial"/>
                <a:ea typeface="Arial"/>
                <a:cs typeface="Arial"/>
              </a:rPr>
              <a:t>Отдельный результат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36154E-4FB7-47E8-B02D-58FBA8EF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4667250"/>
            <a:ext cx="638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4D63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D6373"/>
                </a:solidFill>
                <a:latin typeface="Arial"/>
                <a:ea typeface="Arial"/>
                <a:cs typeface="Arial"/>
              </a:rPr>
              <a:t>Недоступный сервис не останавливает остальные цели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5C55EC-7AC8-4625-996C-97665152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91175"/>
            <a:ext cx="1076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0F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D18FD1-2EF6-4673-BCA4-3F6C6D48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75310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8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B"/>
                </a:solidFill>
                <a:latin typeface="Arial"/>
                <a:ea typeface="Arial"/>
                <a:cs typeface="Arial"/>
              </a:rPr>
              <a:t>Целевые сервисы не изменяются; сканер не отправляет HTTP-запросов.</a:t>
            </a:r>
          </a:p>
        </p:txBody>
      </p:sp>
    </p:spTree>
    <p:extLst>
      <p:ext uri="{BB962C8B-B14F-4D97-AF65-F5344CB8AC3E}">
        <p14:creationId xmlns:p14="http://schemas.microsoft.com/office/powerpoint/2010/main" val="15865076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814B10-AB05-4AA6-9F4B-777D0C10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E9C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E9CB5"/>
                </a:solidFill>
                <a:latin typeface="Arial"/>
                <a:ea typeface="Arial"/>
                <a:cs typeface="Arial"/>
              </a:rPr>
              <a:t>CERTIFICATE RADAR  /  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C7C384-DD11-44D8-842C-34084E722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9625"/>
            <a:ext cx="10668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028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83B"/>
                </a:solidFill>
                <a:latin typeface="Arial"/>
                <a:ea typeface="Arial"/>
                <a:cs typeface="Arial"/>
              </a:rPr>
              <a:t>Проверки показывают конкретную причину риска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29C799-7C95-49F7-994F-8C99D6F2A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70849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08490"/>
                </a:solidFill>
                <a:latin typeface="Arial"/>
                <a:ea typeface="Arial"/>
                <a:cs typeface="Arial"/>
              </a:rPr>
              <a:t>Infrastructure Risk Radar  •  Hackathon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D706F0-2EE0-480D-8E23-8EADD9B8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977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283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83B"/>
                </a:solidFill>
                <a:latin typeface="Arial"/>
                <a:ea typeface="Arial"/>
                <a:cs typeface="Arial"/>
              </a:rPr>
              <a:t>Срок действия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2A85D5-48A7-41FF-BA0B-7EB76230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98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4D63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D6373"/>
                </a:solidFill>
                <a:latin typeface="Arial"/>
                <a:ea typeface="Arial"/>
                <a:cs typeface="Arial"/>
              </a:rPr>
              <a:t>Дни до истечения и настраиваемые пороги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C275E6-9388-4467-B233-C16BFA342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283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83B"/>
                </a:solidFill>
                <a:latin typeface="Arial"/>
                <a:ea typeface="Arial"/>
                <a:cs typeface="Arial"/>
              </a:rPr>
              <a:t>Имя сервиса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8A32A4-EEC4-4E87-9DE9-52C4EA5B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4D63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D6373"/>
                </a:solidFill>
                <a:latin typeface="Arial"/>
                <a:ea typeface="Arial"/>
                <a:cs typeface="Arial"/>
              </a:rPr>
              <a:t>CN/SAN, wildcard и IP SAN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09FE17-6959-46FC-9F94-AA12CFA97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4812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283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83B"/>
                </a:solidFill>
                <a:latin typeface="Arial"/>
                <a:ea typeface="Arial"/>
                <a:cs typeface="Arial"/>
              </a:rPr>
              <a:t>Цепочка доверия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82883E-A676-449E-B3B9-6ABC97AC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4817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4D63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D6373"/>
                </a:solidFill>
                <a:latin typeface="Arial"/>
                <a:ea typeface="Arial"/>
                <a:cs typeface="Arial"/>
              </a:rPr>
              <a:t>Проверка CA и self-signed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E4BE3B-612F-456A-B91E-BA9989D1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09775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283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83B"/>
                </a:solidFill>
                <a:latin typeface="Arial"/>
                <a:ea typeface="Arial"/>
                <a:cs typeface="Arial"/>
              </a:rPr>
              <a:t>Криптография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4B17B2-D3E7-4D13-8036-0B5B30A34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0982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4D63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D6373"/>
                </a:solidFill>
                <a:latin typeface="Arial"/>
                <a:ea typeface="Arial"/>
                <a:cs typeface="Arial"/>
              </a:rPr>
              <a:t>Слабый ключ или устаревшая подпись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6EA827-5410-497C-815A-08CFDE24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2895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283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83B"/>
                </a:solidFill>
                <a:latin typeface="Arial"/>
                <a:ea typeface="Arial"/>
                <a:cs typeface="Arial"/>
              </a:rPr>
              <a:t>Доступность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D9862D-D8FD-4DD4-998E-D4251B36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29000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4D63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D6373"/>
                </a:solidFill>
                <a:latin typeface="Arial"/>
                <a:ea typeface="Arial"/>
                <a:cs typeface="Arial"/>
              </a:rPr>
              <a:t>Таймаут, DNS или отказ соединения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86D29B-10A4-4C08-BD94-2AAE9B41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48125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283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83B"/>
                </a:solidFill>
                <a:latin typeface="Arial"/>
                <a:ea typeface="Arial"/>
                <a:cs typeface="Arial"/>
              </a:rPr>
              <a:t>Инвентарь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C21AF5-D63D-426C-9E32-A439F9615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4817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4D63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D6373"/>
                </a:solidFill>
                <a:latin typeface="Arial"/>
                <a:ea typeface="Arial"/>
                <a:cs typeface="Arial"/>
              </a:rPr>
              <a:t>Владелец и критичность сервиса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A17435-7C14-43C1-8E8E-19AB05EE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24475"/>
            <a:ext cx="107632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63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0DA5D6-E2FF-42BA-BFAD-07BCA968C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86400"/>
            <a:ext cx="10287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Risk Score: 0–100  ·  находки содержат причину и рекомендацию</a:t>
            </a:r>
          </a:p>
        </p:txBody>
      </p:sp>
    </p:spTree>
    <p:extLst>
      <p:ext uri="{BB962C8B-B14F-4D97-AF65-F5344CB8AC3E}">
        <p14:creationId xmlns:p14="http://schemas.microsoft.com/office/powerpoint/2010/main" val="188038336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950A5C-D631-4EC6-B98E-BCE70E04E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E9C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E9CB5"/>
                </a:solidFill>
                <a:latin typeface="Arial"/>
                <a:ea typeface="Arial"/>
                <a:cs typeface="Arial"/>
              </a:rPr>
              <a:t>CERTIFICATE RADAR  /  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8166B0-D757-4246-A6E3-4EA6219D4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9625"/>
            <a:ext cx="10668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028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83B"/>
                </a:solidFill>
                <a:latin typeface="Arial"/>
                <a:ea typeface="Arial"/>
                <a:cs typeface="Arial"/>
              </a:rPr>
              <a:t>От сканирования к работе администратора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8E2488-E5B9-4CB5-A16C-5EA61DF8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70849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08490"/>
                </a:solidFill>
                <a:latin typeface="Arial"/>
                <a:ea typeface="Arial"/>
                <a:cs typeface="Arial"/>
              </a:rPr>
              <a:t>Infrastructure Risk Radar  •  Hackathon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A0338F-E5E7-41E6-AD8B-DC804783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E9CB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E9CB5"/>
                </a:solidFill>
                <a:latin typeface="Arial"/>
                <a:ea typeface="Arial"/>
                <a:cs typeface="Arial"/>
              </a:rPr>
              <a:t>DASHBOARD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2CFED-4594-4E78-A735-5896DA397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33051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028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83B"/>
                </a:solidFill>
                <a:latin typeface="Arial"/>
                <a:ea typeface="Arial"/>
                <a:cs typeface="Arial"/>
              </a:rPr>
              <a:t>Health Score, статусы, ближайшие окончания и карточка сертификата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F4124B-3BAB-4748-8600-E6B41456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E9CB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E9CB5"/>
                </a:solidFill>
                <a:latin typeface="Arial"/>
                <a:ea typeface="Arial"/>
                <a:cs typeface="Arial"/>
              </a:rPr>
              <a:t>ОПОВЕЩЕНИЯ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BD3B1E-7D84-47D0-A9B3-851F6EF85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86050"/>
            <a:ext cx="33051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028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83B"/>
                </a:solidFill>
                <a:latin typeface="Arial"/>
                <a:ea typeface="Arial"/>
                <a:cs typeface="Arial"/>
              </a:rPr>
              <a:t>Настраиваемые пороги; console, SMTP и Telegram. Дубликаты успешных уведомлений подавляются по сертификату, порогу и каналу.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E08190-5675-41E3-B08C-0230695A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E9CB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E9CB5"/>
                </a:solidFill>
                <a:latin typeface="Arial"/>
                <a:ea typeface="Arial"/>
                <a:cs typeface="Arial"/>
              </a:rPr>
              <a:t>ОТЧЁТЫ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9FEA78-C2FF-45A2-B904-3E52D169A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86050"/>
            <a:ext cx="33051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028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83B"/>
                </a:solidFill>
                <a:latin typeface="Arial"/>
                <a:ea typeface="Arial"/>
                <a:cs typeface="Arial"/>
              </a:rPr>
              <a:t>CSV, XLSX и HTML; фильтры и история сканов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438D4A-FD84-4D8D-BDD3-975C3B15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10763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0F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DD26DE-5CBE-41DE-B3D8-51C8B2DD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48250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83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83B"/>
                </a:solidFill>
                <a:latin typeface="Arial"/>
                <a:ea typeface="Arial"/>
                <a:cs typeface="Arial"/>
              </a:rPr>
              <a:t>Пороги можно изменить и пересчитать сохранённые результаты без нового TLS-сканирования.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21D4FE-6D24-4477-96D1-F6EEEBA1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D63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D6373"/>
                </a:solidFill>
                <a:latin typeface="Arial"/>
                <a:ea typeface="Arial"/>
                <a:cs typeface="Arial"/>
              </a:rPr>
              <a:t>Python 3.12  ·  FastAPI  ·  SQLModel / SQLite  ·  APScheduler</a:t>
            </a:r>
          </a:p>
        </p:txBody>
      </p:sp>
    </p:spTree>
    <p:extLst>
      <p:ext uri="{BB962C8B-B14F-4D97-AF65-F5344CB8AC3E}">
        <p14:creationId xmlns:p14="http://schemas.microsoft.com/office/powerpoint/2010/main" val="127771325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B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924AC3-23DB-48EB-8404-38CE635BC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9F0F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9F0F3"/>
                </a:solidFill>
                <a:latin typeface="Arial"/>
                <a:ea typeface="Arial"/>
                <a:cs typeface="Arial"/>
              </a:rPr>
              <a:t>CERTIFICATE RADAR  /  15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167987-0192-425C-949C-DCC0D471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9625"/>
            <a:ext cx="10668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Два проекта покрывают разные инфраструктурные риски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21FBD4-9FBD-4680-80C6-2D0447C7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CB5C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CB5C5"/>
                </a:solidFill>
                <a:latin typeface="Arial"/>
                <a:ea typeface="Arial"/>
                <a:cs typeface="Arial"/>
              </a:rPr>
              <a:t>Infrastructure Risk Radar  •  Hackathon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BCA141-D312-49CD-A9AA-532A5BA4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66925"/>
            <a:ext cx="471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D9F0F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F0F3"/>
                </a:solidFill>
                <a:latin typeface="Arial"/>
                <a:ea typeface="Arial"/>
                <a:cs typeface="Arial"/>
              </a:rPr>
              <a:t>Identity Risk Analyzer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EDA53E-1198-4B09-B666-367E7162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4572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Учётные записи AD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Вложенные административные права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Kerberos delegation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C0251D-CD8A-4B79-A598-C5101E84B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66925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D9F0F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F0F3"/>
                </a:solidFill>
                <a:latin typeface="Arial"/>
                <a:ea typeface="Arial"/>
                <a:cs typeface="Arial"/>
              </a:rPr>
              <a:t>Certificate Radar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930073-8F22-49D5-AA86-6A16EDD0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28900"/>
            <a:ext cx="4810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TLS-сервисы и сертификаты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Срок, имя и доверие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Оповещения и отчёты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78D33D-9BB6-424D-85EB-55317F5ED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95850"/>
            <a:ext cx="10763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63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DD920B-BDE2-4884-B715-A95AB8850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86350"/>
            <a:ext cx="1019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Сейчас это два отдельных приложения. Общая сводка Infrastructure Risk Radar — возможный следующий шаг.</a:t>
            </a:r>
          </a:p>
        </p:txBody>
      </p:sp>
    </p:spTree>
    <p:extLst>
      <p:ext uri="{BB962C8B-B14F-4D97-AF65-F5344CB8AC3E}">
        <p14:creationId xmlns:p14="http://schemas.microsoft.com/office/powerpoint/2010/main" val="19626740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2026-09-25T07:27:03.3550000Z</dcterms:created>
  <dcterms:modified xsi:type="dcterms:W3CDTF">2026-09-25T07:27:03.3550000Z</dcterms:modified>
</coreProperties>
</file>